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1bf914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1bf914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fd660b45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cfd660b45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1bf9140f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1bf9140f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fd660b453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cfd660b453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fd660b45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fd660b45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1bf9140f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1bf9140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1bf9140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1bf9140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fd660b45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cfd660b45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fd660b45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cfd660b45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fd660b45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cfd660b45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14950" y="1847175"/>
            <a:ext cx="4778700" cy="9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500">
                <a:latin typeface="Lato"/>
                <a:ea typeface="Lato"/>
                <a:cs typeface="Lato"/>
                <a:sym typeface="Lato"/>
              </a:rPr>
              <a:t>TIPOS DE REDES</a:t>
            </a:r>
            <a:endParaRPr b="1" sz="4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299250" y="2767575"/>
            <a:ext cx="22101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/>
              <a:t>Polán</a:t>
            </a:r>
            <a:r>
              <a:rPr b="1" lang="es" sz="2200"/>
              <a:t> y Wpan</a:t>
            </a:r>
            <a:endParaRPr b="1" sz="2200"/>
          </a:p>
        </p:txBody>
      </p:sp>
      <p:sp>
        <p:nvSpPr>
          <p:cNvPr id="136" name="Google Shape;136;p13"/>
          <p:cNvSpPr txBox="1"/>
          <p:nvPr/>
        </p:nvSpPr>
        <p:spPr>
          <a:xfrm>
            <a:off x="0" y="4778100"/>
            <a:ext cx="3733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Alumnos: Baure Mauricio y Baltusis Aryan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ctrTitle"/>
          </p:nvPr>
        </p:nvSpPr>
        <p:spPr>
          <a:xfrm>
            <a:off x="3040400" y="1719875"/>
            <a:ext cx="5925300" cy="25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 u="sng">
                <a:latin typeface="Lato"/>
                <a:ea typeface="Lato"/>
                <a:cs typeface="Lato"/>
                <a:sym typeface="Lato"/>
              </a:rPr>
              <a:t>Red </a:t>
            </a:r>
            <a:r>
              <a:rPr b="1" lang="es" sz="7200" u="sng">
                <a:latin typeface="Lato"/>
                <a:ea typeface="Lato"/>
                <a:cs typeface="Lato"/>
                <a:sym typeface="Lato"/>
              </a:rPr>
              <a:t>Polán</a:t>
            </a:r>
            <a:endParaRPr b="1" sz="7200" u="sng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0" y="4672425"/>
            <a:ext cx="24189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Baure Mauricio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997225" y="916975"/>
            <a:ext cx="65352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</a:t>
            </a:r>
            <a:r>
              <a:rPr lang="es"/>
              <a:t>Polán: Definición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922000" y="147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u="sng"/>
              <a:t>Definición</a:t>
            </a:r>
            <a:r>
              <a:rPr lang="es" sz="1400"/>
              <a:t>: </a:t>
            </a:r>
            <a:r>
              <a:rPr lang="es" sz="1400">
                <a:solidFill>
                  <a:srgbClr val="FFFFFF"/>
                </a:solidFill>
              </a:rPr>
              <a:t>Las redes Passive Optical LAN (POLAN) en vez de usar cobre o cables de fibra óptica activas, estas usan unos divisores ópticos para compartir la señal a través de muchos usuarios. Esto quiere decir que esta red no necesita elementos electrónicos activos inmediatos, esto lo hace más eficiente y económico.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9" name="Google Shape;149;p15"/>
          <p:cNvSpPr txBox="1"/>
          <p:nvPr/>
        </p:nvSpPr>
        <p:spPr>
          <a:xfrm>
            <a:off x="561325" y="124020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997225" y="916975"/>
            <a:ext cx="65352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Polán: ¿</a:t>
            </a:r>
            <a:r>
              <a:rPr lang="es"/>
              <a:t>Cómo</a:t>
            </a:r>
            <a:r>
              <a:rPr lang="es"/>
              <a:t> funciona?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922000" y="147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400"/>
              <a:t>Las redes POLAN usan fibra óptica pasiva para el transporte de señales de datos e información de forma bidireccional entre el equipamiento central y los dispositivos de usuario, eliminando el uso de equipos activos en la mayoría de la red permitiendo ofrecer una conectividad a una alta velocidad a través de una infraestructura simple y de bajo costo.</a:t>
            </a:r>
            <a:endParaRPr sz="1400"/>
          </a:p>
        </p:txBody>
      </p:sp>
      <p:sp>
        <p:nvSpPr>
          <p:cNvPr id="156" name="Google Shape;156;p16"/>
          <p:cNvSpPr txBox="1"/>
          <p:nvPr/>
        </p:nvSpPr>
        <p:spPr>
          <a:xfrm>
            <a:off x="612250" y="126565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997225" y="916975"/>
            <a:ext cx="65352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Polán: </a:t>
            </a:r>
            <a:r>
              <a:rPr lang="es"/>
              <a:t>Características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922000" y="147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s" sz="2000" u="sng">
                <a:solidFill>
                  <a:srgbClr val="FFFFFF"/>
                </a:solidFill>
              </a:rPr>
              <a:t>La red POLAN es destacada por tener: </a:t>
            </a:r>
            <a:endParaRPr sz="2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0000"/>
                </a:solidFill>
              </a:rPr>
              <a:t>•</a:t>
            </a:r>
            <a:r>
              <a:rPr lang="es" sz="2000"/>
              <a:t>Una estructura pasiva: esto quiere decir que no necesita de elementos electrónicos activos intermediarios para conectar dispositivos a la red. En vez de eso usan divisores ópticos para compartir la señal a través de múltiples usuarios, haciendo que las redes POLAN sean </a:t>
            </a:r>
            <a:r>
              <a:rPr lang="es" sz="2000"/>
              <a:t>más</a:t>
            </a:r>
            <a:r>
              <a:rPr lang="es" sz="2000"/>
              <a:t> eficientes y </a:t>
            </a:r>
            <a:r>
              <a:rPr lang="es" sz="2000"/>
              <a:t>más</a:t>
            </a:r>
            <a:r>
              <a:rPr lang="es" sz="2000"/>
              <a:t> económicas</a:t>
            </a:r>
            <a:endParaRPr sz="20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0000"/>
                </a:solidFill>
              </a:rPr>
              <a:t>•</a:t>
            </a:r>
            <a:r>
              <a:rPr lang="es" sz="2000"/>
              <a:t>Mayor de ancho de banda: gracias a su tecnología óptica, esta red soporta velocidades de transmisión de datos </a:t>
            </a:r>
            <a:r>
              <a:rPr lang="es" sz="2000"/>
              <a:t>más</a:t>
            </a:r>
            <a:r>
              <a:rPr lang="es" sz="2000"/>
              <a:t> altas, esto lo hace más eficiente.</a:t>
            </a:r>
            <a:endParaRPr sz="20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0000"/>
                </a:solidFill>
              </a:rPr>
              <a:t>•</a:t>
            </a:r>
            <a:r>
              <a:rPr lang="es" sz="2000"/>
              <a:t>Arquitectura de punto a multipunto: su estructura multipunto le permite a muchos usuarios poder conectarse a una red.</a:t>
            </a:r>
            <a:endParaRPr sz="20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0000"/>
                </a:solidFill>
              </a:rPr>
              <a:t>•</a:t>
            </a:r>
            <a:r>
              <a:rPr lang="es" sz="2000"/>
              <a:t>Costo bajo: los costos se reducen al no usar equipos intermedios activos porque estos requieren instalación. Además ahorras el consumo eléctrico al no tener estos equipos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3" name="Google Shape;163;p17"/>
          <p:cNvSpPr txBox="1"/>
          <p:nvPr/>
        </p:nvSpPr>
        <p:spPr>
          <a:xfrm>
            <a:off x="561325" y="124020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997225" y="916975"/>
            <a:ext cx="57780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Polán: Ventajas y Desventajas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922000" y="1475275"/>
            <a:ext cx="7038900" cy="36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400" u="sng"/>
              <a:t>Ventajas</a:t>
            </a:r>
            <a:r>
              <a:rPr lang="es" sz="1400"/>
              <a:t>: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como se explicó antes la red tiene la ventaja de ofrecer un mayor ancho de banda, ahorro de espacio, reducción de costos, mayor seguridad y fácil de ampliar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400" u="sng"/>
              <a:t>Desventajas</a:t>
            </a:r>
            <a:r>
              <a:rPr lang="es" sz="1400"/>
              <a:t>: 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s" sz="1400" u="sng">
                <a:latin typeface="Arial"/>
                <a:ea typeface="Arial"/>
                <a:cs typeface="Arial"/>
                <a:sym typeface="Arial"/>
              </a:rPr>
              <a:t>Costo adicional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: puede costar más caro que una red LAN común por su tecnología de fibra óptica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s" sz="1400" u="sng">
                <a:latin typeface="Arial"/>
                <a:ea typeface="Arial"/>
                <a:cs typeface="Arial"/>
                <a:sym typeface="Arial"/>
              </a:rPr>
              <a:t>Mantenimiento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: es difícil su mantenimiento debido a que se debe llamar a un técnico y usar herramientas especializadas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SzPts val="605"/>
              <a:buNone/>
            </a:pPr>
            <a:r>
              <a:rPr lang="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s" sz="1400" u="sng">
                <a:latin typeface="Arial"/>
                <a:ea typeface="Arial"/>
                <a:cs typeface="Arial"/>
                <a:sym typeface="Arial"/>
              </a:rPr>
              <a:t>Limitaciones de distancia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: no pueden cubrir un gran área geográficas a diferencia de la red LAN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SzPts val="605"/>
              <a:buNone/>
            </a:pPr>
            <a:r>
              <a:rPr lang="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s" sz="1400" u="sng">
                <a:latin typeface="Arial"/>
                <a:ea typeface="Arial"/>
                <a:cs typeface="Arial"/>
                <a:sym typeface="Arial"/>
              </a:rPr>
              <a:t>Flexibilidad limitada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: a diferencia de la red LAN es muy difícil agregar nuevos dispositivos o reconfigurar la red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SzPts val="605"/>
              <a:buNone/>
            </a:pPr>
            <a:r>
              <a:rPr lang="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s" sz="1400" u="sng">
                <a:latin typeface="Arial"/>
                <a:ea typeface="Arial"/>
                <a:cs typeface="Arial"/>
                <a:sym typeface="Arial"/>
              </a:rPr>
              <a:t>Dependencia de la energía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: depende de la energía eléctrica para funcionar por lo que un corte puede hacer que se pierda la conectividad y los servicios de red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870"/>
          </a:p>
        </p:txBody>
      </p:sp>
      <p:sp>
        <p:nvSpPr>
          <p:cNvPr id="170" name="Google Shape;170;p18"/>
          <p:cNvSpPr txBox="1"/>
          <p:nvPr/>
        </p:nvSpPr>
        <p:spPr>
          <a:xfrm>
            <a:off x="561325" y="124020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988900" y="942650"/>
            <a:ext cx="40242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Polan: </a:t>
            </a:r>
            <a:r>
              <a:rPr lang="es"/>
              <a:t>Ejemplos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988900" y="16449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400"/>
              <a:t>Existen muchos ejemplos de redes POLAN pero las más destacadas son: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400"/>
              <a:t>•Se lo puede usar para conectar </a:t>
            </a:r>
            <a:r>
              <a:rPr lang="es" sz="1350">
                <a:latin typeface="Arial"/>
                <a:ea typeface="Arial"/>
                <a:cs typeface="Arial"/>
                <a:sym typeface="Arial"/>
              </a:rPr>
              <a:t>todos los edificios del complejo, incluyendo habitaciones de hotel, restaurantes, tiendas y áreas de recreación o para ofrecer conectividad a las estaciones de metro y autobús.</a:t>
            </a:r>
            <a:endParaRPr sz="1400"/>
          </a:p>
        </p:txBody>
      </p:sp>
      <p:sp>
        <p:nvSpPr>
          <p:cNvPr id="177" name="Google Shape;177;p19"/>
          <p:cNvSpPr txBox="1"/>
          <p:nvPr/>
        </p:nvSpPr>
        <p:spPr>
          <a:xfrm>
            <a:off x="561325" y="124020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ctrTitle"/>
          </p:nvPr>
        </p:nvSpPr>
        <p:spPr>
          <a:xfrm>
            <a:off x="3040400" y="1719875"/>
            <a:ext cx="5925300" cy="25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 u="sng">
                <a:latin typeface="Lato"/>
                <a:ea typeface="Lato"/>
                <a:cs typeface="Lato"/>
                <a:sym typeface="Lato"/>
              </a:rPr>
              <a:t>Red Wpan</a:t>
            </a:r>
            <a:endParaRPr b="1" sz="7200" u="sng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0" y="4778100"/>
            <a:ext cx="3733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Baltusis Aryan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997225" y="916975"/>
            <a:ext cx="63525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Wpan: </a:t>
            </a:r>
            <a:r>
              <a:rPr lang="es"/>
              <a:t>Definición</a:t>
            </a: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922000" y="147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 u="sng"/>
              <a:t>Definición</a:t>
            </a:r>
            <a:r>
              <a:rPr lang="es" sz="1400"/>
              <a:t>: Una red wpan es una red de uso </a:t>
            </a:r>
            <a:r>
              <a:rPr lang="es" sz="1400"/>
              <a:t>inalámbrico</a:t>
            </a:r>
            <a:r>
              <a:rPr lang="es" sz="1400"/>
              <a:t> (sin la necesidad de uniones </a:t>
            </a:r>
            <a:r>
              <a:rPr lang="es" sz="1400"/>
              <a:t>físicas) y de un alcance corto, la cual se encarga de conectar dispositivos como </a:t>
            </a:r>
            <a:r>
              <a:rPr lang="es" sz="1400" u="sng"/>
              <a:t>electrónicos personales</a:t>
            </a:r>
            <a:r>
              <a:rPr lang="es" sz="1400"/>
              <a:t>, </a:t>
            </a:r>
            <a:r>
              <a:rPr lang="es" sz="1400" u="sng"/>
              <a:t>celulares</a:t>
            </a:r>
            <a:r>
              <a:rPr lang="es" sz="1400"/>
              <a:t>/ </a:t>
            </a:r>
            <a:r>
              <a:rPr lang="es" sz="1400" u="sng"/>
              <a:t>teléfonos móviles</a:t>
            </a:r>
            <a:r>
              <a:rPr lang="es" sz="1400"/>
              <a:t>, </a:t>
            </a:r>
            <a:r>
              <a:rPr lang="es" sz="1400" u="sng"/>
              <a:t>laptops</a:t>
            </a:r>
            <a:r>
              <a:rPr lang="es" sz="1400"/>
              <a:t>,  </a:t>
            </a:r>
            <a:r>
              <a:rPr lang="es" sz="1400" u="sng"/>
              <a:t>auriculares inalámbricos </a:t>
            </a:r>
            <a:r>
              <a:rPr lang="es" sz="1400"/>
              <a:t>y </a:t>
            </a:r>
            <a:r>
              <a:rPr lang="es" sz="1400" u="sng"/>
              <a:t>otros dispositivos portátiles</a:t>
            </a:r>
            <a:r>
              <a:rPr lang="es" sz="1400"/>
              <a:t>. </a:t>
            </a:r>
            <a:endParaRPr sz="1400"/>
          </a:p>
        </p:txBody>
      </p:sp>
      <p:sp>
        <p:nvSpPr>
          <p:cNvPr id="190" name="Google Shape;190;p21"/>
          <p:cNvSpPr txBox="1"/>
          <p:nvPr/>
        </p:nvSpPr>
        <p:spPr>
          <a:xfrm>
            <a:off x="561325" y="124020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997225" y="916975"/>
            <a:ext cx="63525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Wpan: </a:t>
            </a:r>
            <a:r>
              <a:rPr lang="es"/>
              <a:t>Características</a:t>
            </a:r>
            <a:endParaRPr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922000" y="147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u="sng"/>
              <a:t>Características</a:t>
            </a:r>
            <a:r>
              <a:rPr lang="es" sz="1400"/>
              <a:t>: Es exclusivamente de uso inalámbrico, su transmisión de datos se realiza a través de ondas de radio o infrarrojos, pueden compartir datos y recursos entre sí a través de antenas de radio y otros medios de comunicación inalámbrica, pueden ser equipados con sensores que recopilan y transmiten los datos de manera local. U</a:t>
            </a:r>
            <a:r>
              <a:rPr lang="es" sz="1400"/>
              <a:t>tiliza cosas como el Bluetooth, Zigbee o NFC para permitir el funcionamiento y conexión de los dispositivos.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7" name="Google Shape;197;p22"/>
          <p:cNvSpPr txBox="1"/>
          <p:nvPr/>
        </p:nvSpPr>
        <p:spPr>
          <a:xfrm>
            <a:off x="561325" y="124020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561325" y="1240200"/>
            <a:ext cx="234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3"/>
          <p:cNvSpPr txBox="1"/>
          <p:nvPr>
            <p:ph type="title"/>
          </p:nvPr>
        </p:nvSpPr>
        <p:spPr>
          <a:xfrm>
            <a:off x="997225" y="916975"/>
            <a:ext cx="69636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 Wpan: </a:t>
            </a:r>
            <a:r>
              <a:rPr lang="es"/>
              <a:t>Ventajas y Desventajas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922000" y="147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u="sng"/>
              <a:t>Ventajas</a:t>
            </a:r>
            <a:r>
              <a:rPr lang="es" sz="1400"/>
              <a:t>: Dado a su baja latencia consume </a:t>
            </a:r>
            <a:r>
              <a:rPr lang="es" sz="1400"/>
              <a:t>poca</a:t>
            </a:r>
            <a:r>
              <a:rPr lang="es" sz="1400"/>
              <a:t> </a:t>
            </a:r>
            <a:r>
              <a:rPr lang="es" sz="1400"/>
              <a:t>energía</a:t>
            </a:r>
            <a:r>
              <a:rPr lang="es" sz="1400"/>
              <a:t> al comunicarse, su seguridad es muy alta al tienen buen cifrado, al ser pequeños son altamente </a:t>
            </a:r>
            <a:r>
              <a:rPr lang="es" sz="1400"/>
              <a:t>portátiles</a:t>
            </a:r>
            <a:r>
              <a:rPr lang="es" sz="1400"/>
              <a:t> y </a:t>
            </a:r>
            <a:r>
              <a:rPr lang="es" sz="1400"/>
              <a:t>cómodos</a:t>
            </a:r>
            <a:r>
              <a:rPr lang="es" sz="1400"/>
              <a:t> de usar y transportar, y son </a:t>
            </a:r>
            <a:r>
              <a:rPr lang="es" sz="1400"/>
              <a:t>muy</a:t>
            </a:r>
            <a:r>
              <a:rPr lang="es" sz="1400"/>
              <a:t> compatibles entre dispositivos de otras marcas.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 u="sng"/>
              <a:t>Desventajas</a:t>
            </a:r>
            <a:r>
              <a:rPr lang="es" sz="1400"/>
              <a:t>: Su alcance es corto, siendo normalmente de </a:t>
            </a:r>
            <a:r>
              <a:rPr lang="es" sz="1400"/>
              <a:t>máximo</a:t>
            </a:r>
            <a:r>
              <a:rPr lang="es" sz="1400"/>
              <a:t> </a:t>
            </a:r>
            <a:r>
              <a:rPr lang="es" sz="1400"/>
              <a:t>10 metros, aunque sean seguras siguen siendo vulnerables a que sus datos sean interceptados, su dependencia de tecnología inalámbrica para poder funcionar, pueden generar interferencias con otras redes lo que causa un bajón de rendimiento y su velocidad de transmisión de datos es baja y mucho menor que la de otros tipos de redes.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